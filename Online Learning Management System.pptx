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in one breath: an online Learning Management System in Java where students learn, instructors teach and admins manage. This review covers project structure, database design with JDBC, and the UI/UX. Replace the bracketed team and college details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review is about initiating the project: planning, structure, database design and connectivity, and the user interface. The next slides follow this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gap: learning material and marks live in too many places. The LMS puts everything in one system for three kinds of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 drive the whole design. Each one gets its own dashboard and permissions, which later becomes inheritance and polymorphism in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down the table: each module maps to one or more roles. Mention that each module will have its own DAO and service classes.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Requests flow top to bottom: the browser calls a servlet, the servlet calls a service, the service calls a DAO, the DAO uses JDBC to talk to MySQL. Keeping layers separate makes the code modular and easy to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folder layout of the GitHub repository. Each package has one job. SQL scripts and documentation sit beside the source so reviewers can set the project up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core tables. A user enrolls in many courses through ENROLLMENTS. A course has many assignments, and each submission links one student to one assignment. Replace this with your exported ER diagram screenshot if your team has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two representative tables from schema.sql in the repository. Point out the primary keys, the unique email and the foreign key that links enrollments to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DBConnection utility from the util package. Move your real credentials into a config file and keep them out of GitHub; mention that in the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 is an abstract parent. Each role extends it and overrides behaviour such as the dashboard it opens. Interfaces and custom exceptions cover the rest of the OOP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three cards match the rubric: collections and generics, multithreading and synchronization, and the classes that perform database operations. Replace the class names with the ones in your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wireframe-style mockups of the login screen and the student dashboard. Replace them with real screenshots of your web application as soon as the screens are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UI/UX principles we follow, plus the colour palette used across the application. Responsive CSS keeps the pages usable on any screen size.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official marking rubric for Java web based projects. This presentation is for Review 1, which is worth 33 of the 50 marks: problem understanding and design, core Java, JDBC and servlets. Review 2 covers code quality, teamwork and innovation.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table maps the Review 1 rubric areas to the parts of our project, so reviewers can see where each mark is earned.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1 covers planning, database design, JDBC and the UI. After this review the team builds the core modules, then tests and polishes. Adjust the labels to match your real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submitting, make sure the repository is public, the README is complete and the latest code is pushed. The repository link on this slide is already filled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summarising: structure, database and JDBC are in place, the UI is designed, and the core modules come next.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1"/>
            <a:ext cx="10566400" cy="4190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61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854201"/>
            <a:ext cx="10566400" cy="4190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94525" y="1216025"/>
            <a:ext cx="4171950" cy="4171950"/>
          </a:xfrm>
          <a:prstGeom prst="roundRect">
            <a:avLst>
              <a:gd name="adj" fmla="val 38737"/>
            </a:avLst>
          </a:prstGeom>
          <a:noFill/>
          <a:ln w="19050">
            <a:solidFill>
              <a:srgbClr val="3DD6C6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3000" y="1714500"/>
            <a:ext cx="3175000" cy="3175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47"/>
              </a:gs>
              <a:gs pos="100000">
                <a:srgbClr val="3DD6C6"/>
              </a:gs>
            </a:gsLst>
            <a:lin ang="2700000" scaled="0"/>
          </a:gradFill>
          <a:ln/>
        </p:spPr>
      </p:sp>
      <p:pic>
        <p:nvPicPr>
          <p:cNvPr id="4" name="Image 0" descr="web embe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85000" y="1206500"/>
            <a:ext cx="4191000" cy="4191000"/>
          </a:xfrm>
          <a:prstGeom prst="rect">
            <a:avLst/>
          </a:prstGeom>
        </p:spPr>
      </p:pic>
      <p:pic>
        <p:nvPicPr>
          <p:cNvPr id="5" name="Image 1" descr="GraduationCap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509000" y="2730500"/>
            <a:ext cx="1143000" cy="11430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2800" y="147955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COLLEGE PROJECT · REVIEW 1</a:t>
            </a:r>
            <a:endParaRPr lang="en-US" sz="1200" dirty="0"/>
          </a:p>
        </p:txBody>
      </p:sp>
      <p:sp>
        <p:nvSpPr>
          <p:cNvPr id="7" name="Text 3"/>
          <p:cNvSpPr/>
          <p:nvPr>
            <p:ph type="title"/>
          </p:nvPr>
        </p:nvSpPr>
        <p:spPr>
          <a:xfrm>
            <a:off x="812800" y="1896110"/>
            <a:ext cx="6017260" cy="1945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Online Learning Management System </a:t>
            </a:r>
            <a:r>
              <a:rPr lang="en-US" sz="4800" b="1" i="0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(LMS)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812800" y="4019550"/>
            <a:ext cx="562483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Java-based platform where students enroll in courses, submit assignments and track progress.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812800" y="4791710"/>
            <a:ext cx="706120" cy="383540"/>
          </a:xfrm>
          <a:prstGeom prst="roundRect">
            <a:avLst>
              <a:gd name="adj" fmla="val 50000"/>
            </a:avLst>
          </a:prstGeom>
          <a:solidFill>
            <a:srgbClr val="1728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620520" y="4791710"/>
            <a:ext cx="775811" cy="383540"/>
          </a:xfrm>
          <a:prstGeom prst="roundRect">
            <a:avLst>
              <a:gd name="adj" fmla="val 50000"/>
            </a:avLst>
          </a:prstGeom>
          <a:solidFill>
            <a:srgbClr val="1728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JDBC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497931" y="4791710"/>
            <a:ext cx="905113" cy="383540"/>
          </a:xfrm>
          <a:prstGeom prst="roundRect">
            <a:avLst>
              <a:gd name="adj" fmla="val 50000"/>
            </a:avLst>
          </a:prstGeom>
          <a:solidFill>
            <a:srgbClr val="1728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504645" y="4791710"/>
            <a:ext cx="984012" cy="383540"/>
          </a:xfrm>
          <a:prstGeom prst="roundRect">
            <a:avLst>
              <a:gd name="adj" fmla="val 50000"/>
            </a:avLst>
          </a:prstGeom>
          <a:solidFill>
            <a:srgbClr val="17284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Servlets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12800" y="62382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Shaurya Singh , Ashish Mishra , Rakshit Tyagi · Galgotias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AGENDA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this review covers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080" y="2062480"/>
            <a:ext cx="162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21080" y="4851400"/>
            <a:ext cx="16256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1080" y="5171440"/>
            <a:ext cx="1625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Scope, users and modules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5973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64840" y="2062480"/>
            <a:ext cx="162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164840" y="4851400"/>
            <a:ext cx="16256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Architecture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64840" y="5171440"/>
            <a:ext cx="1625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Layers and project structure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0349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8600" y="2062480"/>
            <a:ext cx="162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5308600" y="5082540"/>
            <a:ext cx="16256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8600" y="5402580"/>
            <a:ext cx="177673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model and tables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24725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2062480"/>
            <a:ext cx="162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452360" y="4851400"/>
            <a:ext cx="16256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JDBC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52360" y="5171440"/>
            <a:ext cx="1625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Connection and DAO classes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391015" y="1857375"/>
            <a:ext cx="1985010" cy="3981450"/>
          </a:xfrm>
          <a:prstGeom prst="roundRect">
            <a:avLst>
              <a:gd name="adj" fmla="val 623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96120" y="2062480"/>
            <a:ext cx="162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B7A7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9596120" y="4851400"/>
            <a:ext cx="162560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UI / UX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96120" y="5171440"/>
            <a:ext cx="16256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Screens, aesthetics, responsiveness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OVERVIEW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200"/>
            <a:ext cx="5181600" cy="2926080"/>
          </a:xfrm>
          <a:prstGeom prst="roundRect">
            <a:avLst>
              <a:gd name="adj" fmla="val 5208"/>
            </a:avLst>
          </a:prstGeom>
          <a:solidFill>
            <a:srgbClr val="17284A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159000"/>
            <a:ext cx="47091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88720" y="2646680"/>
            <a:ext cx="463042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 material is scattered across chats, drives and notebooks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Instructors track assignments and marks by hand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Students have no single place to see their progress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97600" y="1854200"/>
            <a:ext cx="5181600" cy="2926080"/>
          </a:xfrm>
          <a:prstGeom prst="roundRect">
            <a:avLst>
              <a:gd name="adj" fmla="val 5208"/>
            </a:avLst>
          </a:prstGeom>
          <a:solidFill>
            <a:srgbClr val="FFB547"/>
          </a:solidFill>
          <a:ln/>
        </p:spPr>
      </p:sp>
      <p:sp>
        <p:nvSpPr>
          <p:cNvPr id="8" name="Text 6"/>
          <p:cNvSpPr/>
          <p:nvPr/>
        </p:nvSpPr>
        <p:spPr>
          <a:xfrm>
            <a:off x="6502400" y="2159000"/>
            <a:ext cx="470916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73520" y="2646680"/>
            <a:ext cx="463042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Java application for students, instructors and administrators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Courses, materials, quizzes and assignments in one place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 tracking backed by a MySQL database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1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B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USERS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roles, one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200"/>
            <a:ext cx="3386614" cy="2844800"/>
          </a:xfrm>
          <a:prstGeom prst="roundRect">
            <a:avLst>
              <a:gd name="adj" fmla="val 5357"/>
            </a:avLst>
          </a:prstGeom>
          <a:solidFill>
            <a:srgbClr val="0F1B33"/>
          </a:solidFill>
          <a:ln/>
        </p:spPr>
      </p:sp>
      <p:pic>
        <p:nvPicPr>
          <p:cNvPr id="5" name="Image 0" descr="GraduationCa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17600" y="2159000"/>
            <a:ext cx="508000" cy="50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7600" y="2794000"/>
            <a:ext cx="2860324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202182" y="3256280"/>
            <a:ext cx="2768122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Enroll in courses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Access learning materials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 assignments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Track progress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2614" y="1854200"/>
            <a:ext cx="3386693" cy="2844800"/>
          </a:xfrm>
          <a:prstGeom prst="roundRect">
            <a:avLst>
              <a:gd name="adj" fmla="val 5357"/>
            </a:avLst>
          </a:prstGeom>
          <a:solidFill>
            <a:srgbClr val="0F1B33"/>
          </a:solidFill>
          <a:ln/>
        </p:spPr>
      </p:sp>
      <p:pic>
        <p:nvPicPr>
          <p:cNvPr id="9" name="Image 1" descr="Boo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07414" y="2159000"/>
            <a:ext cx="508000" cy="508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07414" y="2794000"/>
            <a:ext cx="286040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Instructor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791996" y="3256280"/>
            <a:ext cx="2768204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and manage courses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Build quizzes and assignments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Grade submissions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class results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2507" y="1854200"/>
            <a:ext cx="3386693" cy="2844800"/>
          </a:xfrm>
          <a:prstGeom prst="roundRect">
            <a:avLst>
              <a:gd name="adj" fmla="val 5357"/>
            </a:avLst>
          </a:prstGeom>
          <a:solidFill>
            <a:srgbClr val="0F1B33"/>
          </a:solidFill>
          <a:ln/>
        </p:spPr>
      </p:sp>
      <p:pic>
        <p:nvPicPr>
          <p:cNvPr id="13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97307" y="2159000"/>
            <a:ext cx="508000" cy="5080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97307" y="2794000"/>
            <a:ext cx="2860406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Administrator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8381889" y="3256280"/>
            <a:ext cx="2768204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users and roles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all courses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system performance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 reports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36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FEATURES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Modules and key features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6240" cy="2854960"/>
        </p:xfrm>
        <a:graphic>
          <a:graphicData uri="http://schemas.openxmlformats.org/drawingml/2006/table">
            <a:tbl>
              <a:tblPr/>
              <a:tblGrid>
                <a:gridCol w="2533498"/>
                <a:gridCol w="5278120"/>
                <a:gridCol w="2744622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Module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Key features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Used by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Authentication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Secure login, sign-up and role-based access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All users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Course management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Create, edit, publish and enroll in courses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Instructor, Student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Learning materials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Upload and view notes, PDFs and videos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Instructor, Student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Assignments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Create, submit and grade assignments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Instructor, Student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Quizzes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Build quizzes with automatic scoring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Instructor, Student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Progress tracking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Completion percentage for every course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Student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User administration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Manage users, roles and courses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Administrator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ARCHITECTURE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Layered system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03400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594360"/>
                </a:lnTo>
                <a:arcTo hR="101600" wR="50800" stAng="108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6" name="Text 4"/>
          <p:cNvSpPr/>
          <p:nvPr/>
        </p:nvSpPr>
        <p:spPr>
          <a:xfrm>
            <a:off x="1092200" y="1955800"/>
            <a:ext cx="431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76400" y="2014221"/>
            <a:ext cx="28778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Presentation layer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73600" y="2026921"/>
            <a:ext cx="6671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JSP pages for login, dashboards and forms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2800" y="2626361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2626361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594360"/>
                </a:lnTo>
                <a:arcTo hR="101600" wR="50800" stAng="108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11" name="Text 9"/>
          <p:cNvSpPr/>
          <p:nvPr/>
        </p:nvSpPr>
        <p:spPr>
          <a:xfrm>
            <a:off x="1092200" y="2778761"/>
            <a:ext cx="431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76400" y="2837182"/>
            <a:ext cx="28778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Servlet layer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73600" y="2849882"/>
            <a:ext cx="6671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Servlets handle requests and sessions, services hold the rules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2800" y="3449321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2800" y="3449321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594360"/>
                </a:lnTo>
                <a:arcTo hR="101600" wR="50800" stAng="108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2200" y="3601721"/>
            <a:ext cx="431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76400" y="3660139"/>
            <a:ext cx="28778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DAO layer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73600" y="3672839"/>
            <a:ext cx="6671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DAO class per table, all SQL lives here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800" y="4272282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  <a:ln/>
        </p:spPr>
      </p:sp>
      <p:sp>
        <p:nvSpPr>
          <p:cNvPr id="20" name="Shape 18"/>
          <p:cNvSpPr/>
          <p:nvPr/>
        </p:nvSpPr>
        <p:spPr>
          <a:xfrm>
            <a:off x="812800" y="4272282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594360"/>
                </a:lnTo>
                <a:arcTo hR="101600" wR="50800" stAng="108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21" name="Text 19"/>
          <p:cNvSpPr/>
          <p:nvPr/>
        </p:nvSpPr>
        <p:spPr>
          <a:xfrm>
            <a:off x="1092200" y="4424682"/>
            <a:ext cx="431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76400" y="4483100"/>
            <a:ext cx="28778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JDBC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73600" y="4495800"/>
            <a:ext cx="6671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DBConnection, PreparedStatement and ResultSet mapping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12800" y="5095239"/>
            <a:ext cx="10566400" cy="695960"/>
          </a:xfrm>
          <a:prstGeom prst="roundRect">
            <a:avLst>
              <a:gd name="adj" fmla="val 14599"/>
            </a:avLst>
          </a:prstGeom>
          <a:solidFill>
            <a:srgbClr val="17284A"/>
          </a:solidFill>
          <a:ln/>
        </p:spPr>
      </p:sp>
      <p:sp>
        <p:nvSpPr>
          <p:cNvPr id="25" name="Shape 23"/>
          <p:cNvSpPr/>
          <p:nvPr/>
        </p:nvSpPr>
        <p:spPr>
          <a:xfrm>
            <a:off x="812800" y="5095239"/>
            <a:ext cx="10566400" cy="695960"/>
          </a:xfrm>
          <a:custGeom>
            <a:avLst/>
            <a:gdLst/>
            <a:ahLst/>
            <a:cxnLst/>
            <a:rect l="l" t="t" r="r" b="b"/>
            <a:pathLst>
              <a:path w="10566400" h="695960">
                <a:moveTo>
                  <a:pt x="101600" y="695960"/>
                </a:moveTo>
                <a:lnTo>
                  <a:pt x="101600" y="69596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594360"/>
                </a:lnTo>
                <a:arcTo hR="101600" wR="50800" stAng="10800000" swAng="-5400000"/>
                <a:close/>
              </a:path>
            </a:pathLst>
          </a:custGeom>
          <a:solidFill>
            <a:srgbClr val="3DD6C6"/>
          </a:solidFill>
          <a:ln/>
        </p:spPr>
      </p:sp>
      <p:sp>
        <p:nvSpPr>
          <p:cNvPr id="26" name="Text 24"/>
          <p:cNvSpPr/>
          <p:nvPr/>
        </p:nvSpPr>
        <p:spPr>
          <a:xfrm>
            <a:off x="1092200" y="5247639"/>
            <a:ext cx="431800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D6C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76400" y="5306061"/>
            <a:ext cx="28778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MySQL database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73600" y="5318761"/>
            <a:ext cx="66713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lms_db with five normalized tables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 · PROJECT STRUCTURE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Packages and folders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6360160" cy="3825240"/>
          </a:xfrm>
          <a:prstGeom prst="roundRect">
            <a:avLst>
              <a:gd name="adj" fmla="val 3984"/>
            </a:avLst>
          </a:prstGeom>
          <a:solidFill>
            <a:srgbClr val="0F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57400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lms-project/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66800" y="2339339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 src/main/java/com/lms/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6800" y="2621282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model/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User, Student, Course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66800" y="2903221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dao/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UserDAO, CourseDAO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6800" y="3185161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service/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AuthService, CourseService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66800" y="3467100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servlet/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LoginServlet, CourseServlet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6800" y="3749039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├─ util/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DBConnection, Validator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6800" y="4030982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│  └─ exception/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LMSException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6800" y="4312921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 sql/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schema.sql, sample_data.sql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66800" y="4594861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├─ webapp/  </a:t>
            </a:r>
            <a:r>
              <a:rPr lang="en-US" sz="1300" dirty="0">
                <a:solidFill>
                  <a:srgbClr val="8A98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JSP pages, CSS, JS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6800" y="4876800"/>
            <a:ext cx="602772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└─ README.md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80935" y="1806575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6040" y="2011682"/>
            <a:ext cx="358942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Separation of concerns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86040" y="2306321"/>
            <a:ext cx="35894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Model, DAO, service and servlet code never mix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80935" y="3132457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6040" y="3337561"/>
            <a:ext cx="358942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Reusable classes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86040" y="3632200"/>
            <a:ext cx="35894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table has its own DAO with the same methods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80935" y="4458336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6040" y="4663439"/>
            <a:ext cx="358942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Easy to extend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6040" y="4958082"/>
            <a:ext cx="35894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new module means one new model, DAO and service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 · DATABASE DESIGN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1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Entity relationship diagram</a:t>
            </a:r>
            <a:endParaRPr lang="en-US" sz="32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556000" y="2647950"/>
            <a:ext cx="1193800" cy="101600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42200" y="2647950"/>
            <a:ext cx="1193800" cy="101600"/>
          </a:xfrm>
          <a:prstGeom prst="rect">
            <a:avLst/>
          </a:prstGeom>
        </p:spPr>
      </p:pic>
      <p:pic>
        <p:nvPicPr>
          <p:cNvPr id="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159000" y="3505200"/>
            <a:ext cx="101600" cy="482600"/>
          </a:xfrm>
          <a:prstGeom prst="rect">
            <a:avLst/>
          </a:prstGeom>
        </p:spPr>
      </p:pic>
      <p:pic>
        <p:nvPicPr>
          <p:cNvPr id="7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556000" y="4743450"/>
            <a:ext cx="5080000" cy="101600"/>
          </a:xfrm>
          <a:prstGeom prst="rect">
            <a:avLst/>
          </a:prstGeom>
        </p:spPr>
      </p:pic>
      <p:pic>
        <p:nvPicPr>
          <p:cNvPr id="8" name="Image 4" descr="connector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31400" y="3505200"/>
            <a:ext cx="101600" cy="4826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3581400" y="2444750"/>
            <a:ext cx="114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10" name="Text 3"/>
          <p:cNvSpPr/>
          <p:nvPr/>
        </p:nvSpPr>
        <p:spPr>
          <a:xfrm>
            <a:off x="7467600" y="2444750"/>
            <a:ext cx="11430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: 1</a:t>
            </a:r>
            <a:endParaRPr lang="en-US" sz="1200" dirty="0"/>
          </a:p>
        </p:txBody>
      </p:sp>
      <p:sp>
        <p:nvSpPr>
          <p:cNvPr id="11" name="Text 4"/>
          <p:cNvSpPr/>
          <p:nvPr/>
        </p:nvSpPr>
        <p:spPr>
          <a:xfrm>
            <a:off x="2311400" y="365125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12" name="Text 5"/>
          <p:cNvSpPr/>
          <p:nvPr/>
        </p:nvSpPr>
        <p:spPr>
          <a:xfrm>
            <a:off x="5435600" y="4527550"/>
            <a:ext cx="1320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 : 1</a:t>
            </a:r>
            <a:endParaRPr lang="en-US" sz="1200" dirty="0"/>
          </a:p>
        </p:txBody>
      </p:sp>
      <p:sp>
        <p:nvSpPr>
          <p:cNvPr id="13" name="Text 6"/>
          <p:cNvSpPr/>
          <p:nvPr/>
        </p:nvSpPr>
        <p:spPr>
          <a:xfrm>
            <a:off x="10083800" y="3651250"/>
            <a:ext cx="685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D6C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 : N</a:t>
            </a:r>
            <a:endParaRPr lang="en-US" sz="1200" dirty="0"/>
          </a:p>
        </p:txBody>
      </p:sp>
      <p:sp>
        <p:nvSpPr>
          <p:cNvPr id="14" name="Text 7"/>
          <p:cNvSpPr/>
          <p:nvPr/>
        </p:nvSpPr>
        <p:spPr>
          <a:xfrm>
            <a:off x="4003040" y="5143500"/>
            <a:ext cx="418592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 tables in 3NF, linked by foreign keys</a:t>
            </a:r>
            <a:endParaRPr lang="en-US" sz="1300" dirty="0"/>
          </a:p>
        </p:txBody>
      </p:sp>
      <p:sp>
        <p:nvSpPr>
          <p:cNvPr id="15" name="Shape 8"/>
          <p:cNvSpPr/>
          <p:nvPr/>
        </p:nvSpPr>
        <p:spPr>
          <a:xfrm>
            <a:off x="812800" y="18415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/>
        </p:spPr>
      </p:sp>
      <p:sp>
        <p:nvSpPr>
          <p:cNvPr id="16" name="Text 9"/>
          <p:cNvSpPr/>
          <p:nvPr/>
        </p:nvSpPr>
        <p:spPr>
          <a:xfrm>
            <a:off x="812800" y="18415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hR="101600" wR="101600" stAng="10800000" swAng="5400000"/>
                <a:lnTo>
                  <a:pt x="2692400" y="0"/>
                </a:lnTo>
                <a:arcTo hR="101600" w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  <a:ln/>
        </p:spPr>
        <p:txBody>
          <a:bodyPr wrap="square" lIns="152400" tIns="101600" rIns="7772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USERS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965200" y="2395221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user_id (PK)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965200" y="2659382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full_name</a:t>
            </a:r>
            <a:endParaRPr lang="en-US" sz="1200" dirty="0"/>
          </a:p>
        </p:txBody>
      </p:sp>
      <p:sp>
        <p:nvSpPr>
          <p:cNvPr id="19" name="Text 12"/>
          <p:cNvSpPr/>
          <p:nvPr/>
        </p:nvSpPr>
        <p:spPr>
          <a:xfrm>
            <a:off x="965200" y="2923539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email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965200" y="3187700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role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4699000" y="18415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/>
        </p:spPr>
      </p:sp>
      <p:sp>
        <p:nvSpPr>
          <p:cNvPr id="22" name="Text 15"/>
          <p:cNvSpPr/>
          <p:nvPr/>
        </p:nvSpPr>
        <p:spPr>
          <a:xfrm>
            <a:off x="4699000" y="18415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hR="101600" wR="101600" stAng="10800000" swAng="5400000"/>
                <a:lnTo>
                  <a:pt x="2692400" y="0"/>
                </a:lnTo>
                <a:arcTo hR="101600" w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  <a:ln/>
        </p:spPr>
        <p:txBody>
          <a:bodyPr wrap="square" lIns="152400" tIns="101600" rIns="7772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ENROLLMENTS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4851400" y="2395221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enroll_id (PK)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851400" y="2659382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user_id (FK)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851400" y="2923539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course_id (FK)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851400" y="3187700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progress_pct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8585200" y="18415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/>
        </p:spPr>
      </p:sp>
      <p:sp>
        <p:nvSpPr>
          <p:cNvPr id="28" name="Text 21"/>
          <p:cNvSpPr/>
          <p:nvPr/>
        </p:nvSpPr>
        <p:spPr>
          <a:xfrm>
            <a:off x="8585200" y="18415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hR="101600" wR="101600" stAng="10800000" swAng="5400000"/>
                <a:lnTo>
                  <a:pt x="2692400" y="0"/>
                </a:lnTo>
                <a:arcTo hR="101600" w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  <a:ln/>
        </p:spPr>
        <p:txBody>
          <a:bodyPr wrap="square" lIns="152400" tIns="101600" rIns="7772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COURSES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8737600" y="2395221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course_id (PK)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8737600" y="2659382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title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8737600" y="2923539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instructor_id (FK)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8737600" y="3187700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category</a:t>
            </a:r>
            <a:endParaRPr lang="en-US" sz="1200" dirty="0"/>
          </a:p>
        </p:txBody>
      </p:sp>
      <p:sp>
        <p:nvSpPr>
          <p:cNvPr id="33" name="Shape 26"/>
          <p:cNvSpPr/>
          <p:nvPr/>
        </p:nvSpPr>
        <p:spPr>
          <a:xfrm>
            <a:off x="812800" y="39370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/>
        </p:spPr>
      </p:sp>
      <p:sp>
        <p:nvSpPr>
          <p:cNvPr id="34" name="Text 27"/>
          <p:cNvSpPr/>
          <p:nvPr/>
        </p:nvSpPr>
        <p:spPr>
          <a:xfrm>
            <a:off x="812800" y="39370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hR="101600" wR="101600" stAng="10800000" swAng="5400000"/>
                <a:lnTo>
                  <a:pt x="2692400" y="0"/>
                </a:lnTo>
                <a:arcTo hR="101600" w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  <a:ln/>
        </p:spPr>
        <p:txBody>
          <a:bodyPr wrap="square" lIns="152400" tIns="101600" rIns="7772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SUBMISSIONS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965200" y="4490721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sub_id (PK)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965200" y="4754879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assignment_id (FK)</a:t>
            </a:r>
            <a:endParaRPr lang="en-US" sz="1200" dirty="0"/>
          </a:p>
        </p:txBody>
      </p:sp>
      <p:sp>
        <p:nvSpPr>
          <p:cNvPr id="37" name="Text 30"/>
          <p:cNvSpPr/>
          <p:nvPr/>
        </p:nvSpPr>
        <p:spPr>
          <a:xfrm>
            <a:off x="965200" y="5019042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student_id (FK)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965200" y="5283200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marks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8585200" y="3937000"/>
            <a:ext cx="2794000" cy="1714500"/>
          </a:xfrm>
          <a:prstGeom prst="roundRect">
            <a:avLst>
              <a:gd name="adj" fmla="val 5926"/>
            </a:avLst>
          </a:prstGeom>
          <a:solidFill>
            <a:srgbClr val="FFFDF8"/>
          </a:solidFill>
          <a:ln/>
        </p:spPr>
      </p:sp>
      <p:sp>
        <p:nvSpPr>
          <p:cNvPr id="40" name="Text 33"/>
          <p:cNvSpPr/>
          <p:nvPr/>
        </p:nvSpPr>
        <p:spPr>
          <a:xfrm>
            <a:off x="8585200" y="3937000"/>
            <a:ext cx="2794000" cy="452120"/>
          </a:xfrm>
          <a:custGeom>
            <a:avLst/>
            <a:gdLst/>
            <a:ahLst/>
            <a:cxnLst/>
            <a:rect l="l" t="t" r="r" b="b"/>
            <a:pathLst>
              <a:path w="2794000" h="452120">
                <a:moveTo>
                  <a:pt x="0" y="101600"/>
                </a:moveTo>
                <a:arcTo hR="101600" wR="101600" stAng="10800000" swAng="5400000"/>
                <a:lnTo>
                  <a:pt x="2692400" y="0"/>
                </a:lnTo>
                <a:arcTo hR="101600" wR="101600" stAng="16200000" swAng="5400000"/>
                <a:lnTo>
                  <a:pt x="2794000" y="452120"/>
                </a:lnTo>
                <a:lnTo>
                  <a:pt x="0" y="452120"/>
                </a:lnTo>
                <a:close/>
              </a:path>
            </a:pathLst>
          </a:custGeom>
          <a:solidFill>
            <a:srgbClr val="17284A"/>
          </a:solidFill>
          <a:ln/>
        </p:spPr>
        <p:txBody>
          <a:bodyPr wrap="square" lIns="152400" tIns="101600" rIns="77724" bIns="762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ASSIGNMENTS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8737600" y="4490721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0F1B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assign_id (PK)</a:t>
            </a:r>
            <a:endParaRPr lang="en-US" sz="1200" dirty="0"/>
          </a:p>
        </p:txBody>
      </p:sp>
      <p:sp>
        <p:nvSpPr>
          <p:cNvPr id="42" name="Text 35"/>
          <p:cNvSpPr/>
          <p:nvPr/>
        </p:nvSpPr>
        <p:spPr>
          <a:xfrm>
            <a:off x="8737600" y="4754879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course_id (FK)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8737600" y="5019042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title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8737600" y="5283200"/>
            <a:ext cx="25638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due_date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 · SCHEMA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schema in SQL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6360160" cy="3825240"/>
          </a:xfrm>
          <a:prstGeom prst="roundRect">
            <a:avLst>
              <a:gd name="adj" fmla="val 3984"/>
            </a:avLst>
          </a:prstGeom>
          <a:solidFill>
            <a:srgbClr val="0F1B33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57400"/>
            <a:ext cx="6027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CREATE TABLE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users (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70000" y="2308864"/>
            <a:ext cx="58184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user_id INT AUTO_INCREMENT </a:t>
            </a: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PRIMARY KEY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70000" y="2560321"/>
            <a:ext cx="58184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full_name VARCHAR(80) NOT NULL,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70000" y="2811779"/>
            <a:ext cx="58184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email VARCHAR(80) </a:t>
            </a: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UNIQUE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NOT NULL,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70000" y="3063242"/>
            <a:ext cx="58184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role ENUM('STUDENT','INSTRUCTOR','ADMIN')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3314700"/>
            <a:ext cx="6027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3566164"/>
            <a:ext cx="6027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CREATE TABLE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enrollments (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70000" y="3817621"/>
            <a:ext cx="58184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enroll_id INT AUTO_INCREMENT </a:t>
            </a: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PRIMARY KEY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,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70000" y="4069079"/>
            <a:ext cx="58184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user_id INT, course_id INT,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70000" y="4320542"/>
            <a:ext cx="5818429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FOREIGN KEY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(user_id) </a:t>
            </a: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REFERENCES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users(user_id)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66800" y="4572000"/>
            <a:ext cx="6027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480935" y="1806575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6040" y="2011679"/>
            <a:ext cx="358942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Normalized to 3NF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686040" y="2306321"/>
            <a:ext cx="35894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repeated data, every field depends on its key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80935" y="3132454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6040" y="3337564"/>
            <a:ext cx="358942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Integrity rules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86040" y="3632200"/>
            <a:ext cx="35894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Foreign keys and a unique email block bad data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80935" y="4458339"/>
            <a:ext cx="3895090" cy="1167130"/>
          </a:xfrm>
          <a:prstGeom prst="roundRect">
            <a:avLst>
              <a:gd name="adj" fmla="val 10609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6040" y="4663442"/>
            <a:ext cx="358942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 passwords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86040" y="4958079"/>
            <a:ext cx="3589426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hashed passwords are stored, never plain text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 · DATABASE CONNECTIVITY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JDBC connection class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6360160" cy="3728720"/>
          </a:xfrm>
          <a:prstGeom prst="roundRect">
            <a:avLst>
              <a:gd name="adj" fmla="val 4087"/>
            </a:avLst>
          </a:prstGeom>
          <a:solidFill>
            <a:srgbClr val="17284A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057400"/>
            <a:ext cx="6027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class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DBConnection {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57300" y="2321564"/>
            <a:ext cx="5831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private static final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String URL =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47800" y="2585721"/>
            <a:ext cx="56352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"jdbc:mysql://localhost:3306/lms_db";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57300" y="2849879"/>
            <a:ext cx="5831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private static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Connection conn;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57300" y="3215642"/>
            <a:ext cx="5831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static synchronized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Connection getConnection()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47800" y="3479800"/>
            <a:ext cx="56352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throws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SQLException {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47800" y="3743964"/>
            <a:ext cx="56352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(conn == null || conn.isClosed()) {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38300" y="4008121"/>
            <a:ext cx="54390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conn = DriverManager.getConnection(URL, USER, PASS);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47800" y="4272279"/>
            <a:ext cx="56352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47800" y="4536442"/>
            <a:ext cx="563529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FB54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return</a:t>
            </a: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conn;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57300" y="4800600"/>
            <a:ext cx="583151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6800" y="5064764"/>
            <a:ext cx="6027725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77760" y="1803400"/>
            <a:ext cx="3901440" cy="881380"/>
          </a:xfrm>
          <a:prstGeom prst="roundRect">
            <a:avLst>
              <a:gd name="adj" fmla="val 11527"/>
            </a:avLst>
          </a:prstGeom>
          <a:solidFill>
            <a:srgbClr val="17284A"/>
          </a:solidFill>
          <a:ln/>
        </p:spPr>
      </p:sp>
      <p:sp>
        <p:nvSpPr>
          <p:cNvPr id="18" name="Shape 16"/>
          <p:cNvSpPr/>
          <p:nvPr/>
        </p:nvSpPr>
        <p:spPr>
          <a:xfrm>
            <a:off x="7477760" y="1803400"/>
            <a:ext cx="3901440" cy="881380"/>
          </a:xfrm>
          <a:custGeom>
            <a:avLst/>
            <a:gdLst/>
            <a:ahLst/>
            <a:cxnLst/>
            <a:rect l="l" t="t" r="r" b="b"/>
            <a:pathLst>
              <a:path w="3901440" h="881380">
                <a:moveTo>
                  <a:pt x="101600" y="881380"/>
                </a:moveTo>
                <a:lnTo>
                  <a:pt x="101600" y="88138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779780"/>
                </a:lnTo>
                <a:arcTo hR="101600" wR="50800" stAng="108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19" name="Text 17"/>
          <p:cNvSpPr/>
          <p:nvPr/>
        </p:nvSpPr>
        <p:spPr>
          <a:xfrm>
            <a:off x="7731760" y="1981200"/>
            <a:ext cx="35475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shared connection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31760" y="2275842"/>
            <a:ext cx="354756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Opened once and reused by every DAO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477760" y="2837179"/>
            <a:ext cx="3901440" cy="1112520"/>
          </a:xfrm>
          <a:prstGeom prst="roundRect">
            <a:avLst>
              <a:gd name="adj" fmla="val 9132"/>
            </a:avLst>
          </a:prstGeom>
          <a:solidFill>
            <a:srgbClr val="1728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477760" y="2837179"/>
            <a:ext cx="3901440" cy="1112520"/>
          </a:xfrm>
          <a:custGeom>
            <a:avLst/>
            <a:gdLst/>
            <a:ahLst/>
            <a:cxnLst/>
            <a:rect l="l" t="t" r="r" b="b"/>
            <a:pathLst>
              <a:path w="3901440" h="1112520">
                <a:moveTo>
                  <a:pt x="101600" y="1112520"/>
                </a:moveTo>
                <a:lnTo>
                  <a:pt x="101600" y="11125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010920"/>
                </a:lnTo>
                <a:arcTo hR="101600" wR="50800" stAng="108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23" name="Text 21"/>
          <p:cNvSpPr/>
          <p:nvPr/>
        </p:nvSpPr>
        <p:spPr>
          <a:xfrm>
            <a:off x="7731760" y="3014979"/>
            <a:ext cx="35475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Thread safe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731760" y="3309621"/>
            <a:ext cx="354756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synchronized keyword guards the shared object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477760" y="4102100"/>
            <a:ext cx="3901440" cy="1112520"/>
          </a:xfrm>
          <a:prstGeom prst="roundRect">
            <a:avLst>
              <a:gd name="adj" fmla="val 9132"/>
            </a:avLst>
          </a:prstGeom>
          <a:solidFill>
            <a:srgbClr val="17284A"/>
          </a:solidFill>
          <a:ln/>
        </p:spPr>
      </p:sp>
      <p:sp>
        <p:nvSpPr>
          <p:cNvPr id="26" name="Shape 24"/>
          <p:cNvSpPr/>
          <p:nvPr/>
        </p:nvSpPr>
        <p:spPr>
          <a:xfrm>
            <a:off x="7477760" y="4102100"/>
            <a:ext cx="3901440" cy="1112520"/>
          </a:xfrm>
          <a:custGeom>
            <a:avLst/>
            <a:gdLst/>
            <a:ahLst/>
            <a:cxnLst/>
            <a:rect l="l" t="t" r="r" b="b"/>
            <a:pathLst>
              <a:path w="3901440" h="1112520">
                <a:moveTo>
                  <a:pt x="101600" y="1112520"/>
                </a:moveTo>
                <a:lnTo>
                  <a:pt x="101600" y="1112520"/>
                </a:lnTo>
                <a:arcTo hR="101600" wR="101600" stAng="5400000" swAng="5400000"/>
                <a:lnTo>
                  <a:pt x="0" y="101600"/>
                </a:lnTo>
                <a:arcTo hR="101600" wR="101600" stAng="10800000" swAng="5400000"/>
                <a:lnTo>
                  <a:pt x="101600" y="0"/>
                </a:lnTo>
                <a:arcTo hR="101600" wR="50800" stAng="16200000" swAng="-5400000"/>
                <a:lnTo>
                  <a:pt x="50800" y="1010920"/>
                </a:lnTo>
                <a:arcTo hR="101600" wR="50800" stAng="10800000" swAng="-5400000"/>
                <a:close/>
              </a:path>
            </a:pathLst>
          </a:custGeom>
          <a:solidFill>
            <a:srgbClr val="3DD6C6"/>
          </a:solidFill>
          <a:ln/>
        </p:spPr>
      </p:sp>
      <p:sp>
        <p:nvSpPr>
          <p:cNvPr id="27" name="Text 25"/>
          <p:cNvSpPr/>
          <p:nvPr/>
        </p:nvSpPr>
        <p:spPr>
          <a:xfrm>
            <a:off x="7731760" y="4279900"/>
            <a:ext cx="3547567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Safe queries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31760" y="4574542"/>
            <a:ext cx="354756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DAOs use PreparedStatement to block SQL injection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 · OOP DESIGN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Class design with OOP</a:t>
            </a:r>
            <a:endParaRPr lang="en-US" sz="3200" dirty="0"/>
          </a:p>
        </p:txBody>
      </p:sp>
      <p:pic>
        <p:nvPicPr>
          <p:cNvPr id="4" name="Image 0" descr="connecto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87500" y="2679700"/>
            <a:ext cx="1943100" cy="1181100"/>
          </a:xfrm>
          <a:prstGeom prst="rect">
            <a:avLst/>
          </a:prstGeom>
        </p:spPr>
      </p:pic>
      <p:pic>
        <p:nvPicPr>
          <p:cNvPr id="5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429000" y="2679700"/>
            <a:ext cx="101600" cy="1181100"/>
          </a:xfrm>
          <a:prstGeom prst="rect">
            <a:avLst/>
          </a:prstGeom>
        </p:spPr>
      </p:pic>
      <p:pic>
        <p:nvPicPr>
          <p:cNvPr id="6" name="Image 2" descr="connector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429000" y="2679700"/>
            <a:ext cx="1943100" cy="1181100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1955800" y="1905000"/>
            <a:ext cx="3048000" cy="825500"/>
          </a:xfrm>
          <a:prstGeom prst="roundRect">
            <a:avLst>
              <a:gd name="adj" fmla="val 12308"/>
            </a:avLst>
          </a:prstGeom>
          <a:solidFill>
            <a:srgbClr val="0F1B33"/>
          </a:solidFill>
          <a:ln/>
        </p:spPr>
      </p:sp>
      <p:sp>
        <p:nvSpPr>
          <p:cNvPr id="8" name="Text 3"/>
          <p:cNvSpPr/>
          <p:nvPr/>
        </p:nvSpPr>
        <p:spPr>
          <a:xfrm>
            <a:off x="2133600" y="2032000"/>
            <a:ext cx="277317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(abstract)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2133600" y="2344421"/>
            <a:ext cx="27731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id, name, email · login()</a:t>
            </a:r>
            <a:endParaRPr lang="en-US" sz="1200" dirty="0"/>
          </a:p>
        </p:txBody>
      </p:sp>
      <p:sp>
        <p:nvSpPr>
          <p:cNvPr id="10" name="Shape 5"/>
          <p:cNvSpPr/>
          <p:nvPr/>
        </p:nvSpPr>
        <p:spPr>
          <a:xfrm>
            <a:off x="815975" y="3813175"/>
            <a:ext cx="1644650" cy="1073150"/>
          </a:xfrm>
          <a:prstGeom prst="roundRect">
            <a:avLst>
              <a:gd name="adj" fmla="val 9172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944880" y="3942079"/>
            <a:ext cx="1437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Student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44880" y="4236721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enroll()</a:t>
            </a:r>
            <a:endParaRPr lang="en-US" sz="1200" dirty="0"/>
          </a:p>
        </p:txBody>
      </p:sp>
      <p:sp>
        <p:nvSpPr>
          <p:cNvPr id="13" name="Text 8"/>
          <p:cNvSpPr/>
          <p:nvPr/>
        </p:nvSpPr>
        <p:spPr>
          <a:xfrm>
            <a:off x="944880" y="4500879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submit()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2657475" y="3813175"/>
            <a:ext cx="1644650" cy="1073150"/>
          </a:xfrm>
          <a:prstGeom prst="roundRect">
            <a:avLst>
              <a:gd name="adj" fmla="val 9172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86380" y="3942079"/>
            <a:ext cx="1437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Instructor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2786380" y="4236721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createCourse()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2786380" y="4500879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gradeWork()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498975" y="3813175"/>
            <a:ext cx="1644650" cy="1073150"/>
          </a:xfrm>
          <a:prstGeom prst="roundRect">
            <a:avLst>
              <a:gd name="adj" fmla="val 9172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627880" y="3942079"/>
            <a:ext cx="143764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Admin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4627880" y="4236721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manageUsers()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627880" y="4500879"/>
            <a:ext cx="14376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450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reports()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731000" y="1905000"/>
            <a:ext cx="4648200" cy="805180"/>
          </a:xfrm>
          <a:prstGeom prst="roundRect">
            <a:avLst>
              <a:gd name="adj" fmla="val 12618"/>
            </a:avLst>
          </a:prstGeom>
          <a:solidFill>
            <a:srgbClr val="0F1B33"/>
          </a:solidFill>
          <a:ln/>
        </p:spPr>
      </p:sp>
      <p:sp>
        <p:nvSpPr>
          <p:cNvPr id="23" name="Text 18"/>
          <p:cNvSpPr/>
          <p:nvPr/>
        </p:nvSpPr>
        <p:spPr>
          <a:xfrm>
            <a:off x="6908800" y="2057400"/>
            <a:ext cx="442137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908800" y="2326642"/>
            <a:ext cx="442137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Student, Instructor and Admin extend User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731000" y="2811779"/>
            <a:ext cx="4648200" cy="805180"/>
          </a:xfrm>
          <a:prstGeom prst="roundRect">
            <a:avLst>
              <a:gd name="adj" fmla="val 12618"/>
            </a:avLst>
          </a:prstGeom>
          <a:solidFill>
            <a:srgbClr val="0F1B33"/>
          </a:solidFill>
          <a:ln/>
        </p:spPr>
      </p:sp>
      <p:sp>
        <p:nvSpPr>
          <p:cNvPr id="26" name="Text 21"/>
          <p:cNvSpPr/>
          <p:nvPr/>
        </p:nvSpPr>
        <p:spPr>
          <a:xfrm>
            <a:off x="6908800" y="2964179"/>
            <a:ext cx="442137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Polymorphism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908800" y="3233421"/>
            <a:ext cx="442137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role overrides getDashboard()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6731000" y="3718564"/>
            <a:ext cx="4648200" cy="805180"/>
          </a:xfrm>
          <a:prstGeom prst="roundRect">
            <a:avLst>
              <a:gd name="adj" fmla="val 12618"/>
            </a:avLst>
          </a:prstGeom>
          <a:solidFill>
            <a:srgbClr val="0F1B33"/>
          </a:solidFill>
          <a:ln/>
        </p:spPr>
      </p:sp>
      <p:sp>
        <p:nvSpPr>
          <p:cNvPr id="29" name="Text 24"/>
          <p:cNvSpPr/>
          <p:nvPr/>
        </p:nvSpPr>
        <p:spPr>
          <a:xfrm>
            <a:off x="6908800" y="3870964"/>
            <a:ext cx="442137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Interfaces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6908800" y="4140200"/>
            <a:ext cx="442137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Gradable and Reportable define shared contracts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6731000" y="4625342"/>
            <a:ext cx="4648200" cy="805180"/>
          </a:xfrm>
          <a:prstGeom prst="roundRect">
            <a:avLst>
              <a:gd name="adj" fmla="val 12618"/>
            </a:avLst>
          </a:prstGeom>
          <a:solidFill>
            <a:srgbClr val="0F1B33"/>
          </a:solidFill>
          <a:ln/>
        </p:spPr>
      </p:sp>
      <p:sp>
        <p:nvSpPr>
          <p:cNvPr id="32" name="Text 27"/>
          <p:cNvSpPr/>
          <p:nvPr/>
        </p:nvSpPr>
        <p:spPr>
          <a:xfrm>
            <a:off x="6908800" y="4777742"/>
            <a:ext cx="4421378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FB54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Exception handling</a:t>
            </a:r>
            <a:endParaRPr lang="en-US" sz="1600" dirty="0"/>
          </a:p>
        </p:txBody>
      </p:sp>
      <p:sp>
        <p:nvSpPr>
          <p:cNvPr id="33" name="Text 28"/>
          <p:cNvSpPr/>
          <p:nvPr/>
        </p:nvSpPr>
        <p:spPr>
          <a:xfrm>
            <a:off x="6908800" y="5046979"/>
            <a:ext cx="4421378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 LMSException with try, catch and finally</a:t>
            </a:r>
            <a:endParaRPr lang="en-US" sz="1300" dirty="0"/>
          </a:p>
        </p:txBody>
      </p:sp>
      <p:sp>
        <p:nvSpPr>
          <p:cNvPr id="34" name="Text 29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 · CORE JAVA CONCEPTS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Collections, threads and DAO classes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3386614" cy="3568700"/>
          </a:xfrm>
          <a:prstGeom prst="roundRect">
            <a:avLst>
              <a:gd name="adj" fmla="val 4500"/>
            </a:avLst>
          </a:prstGeom>
          <a:solidFill>
            <a:srgbClr val="17284A"/>
          </a:solidFill>
          <a:ln/>
        </p:spPr>
      </p:sp>
      <p:pic>
        <p:nvPicPr>
          <p:cNvPr id="5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2057400"/>
            <a:ext cx="406400" cy="40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6800" y="2590800"/>
            <a:ext cx="296497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Collections and generics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66800" y="2992121"/>
            <a:ext cx="29649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ArrayList&lt;Course&gt;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6800" y="3230879"/>
            <a:ext cx="29649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 catalogue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66800" y="3589021"/>
            <a:ext cx="29649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HashMap&lt;Integer, Student&gt;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66800" y="3827779"/>
            <a:ext cx="29649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Fast lookup by id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66800" y="4185921"/>
            <a:ext cx="296497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GenericDAO&lt;T&gt;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66800" y="4424679"/>
            <a:ext cx="296497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reusable CRUD contract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02614" y="1803400"/>
            <a:ext cx="3386693" cy="3568700"/>
          </a:xfrm>
          <a:prstGeom prst="roundRect">
            <a:avLst>
              <a:gd name="adj" fmla="val 4500"/>
            </a:avLst>
          </a:prstGeom>
          <a:solidFill>
            <a:srgbClr val="17284A"/>
          </a:solidFill>
          <a:ln/>
        </p:spPr>
      </p:sp>
      <p:pic>
        <p:nvPicPr>
          <p:cNvPr id="14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56614" y="2057400"/>
            <a:ext cx="406400" cy="4064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56614" y="2590800"/>
            <a:ext cx="296505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Multithreading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56614" y="2992121"/>
            <a:ext cx="29650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Thread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56614" y="3230879"/>
            <a:ext cx="2965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Runs report generation off the request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656614" y="3820164"/>
            <a:ext cx="29650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ExecutorService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656614" y="4058921"/>
            <a:ext cx="2965054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Sends notifications in the background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656614" y="4648200"/>
            <a:ext cx="29650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synchronized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656614" y="4886964"/>
            <a:ext cx="296505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Protects the shared connection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7992507" y="1803400"/>
            <a:ext cx="3386693" cy="3568700"/>
          </a:xfrm>
          <a:prstGeom prst="roundRect">
            <a:avLst>
              <a:gd name="adj" fmla="val 4500"/>
            </a:avLst>
          </a:prstGeom>
          <a:solidFill>
            <a:srgbClr val="17284A"/>
          </a:solidFill>
          <a:ln/>
        </p:spPr>
      </p:sp>
      <p:pic>
        <p:nvPicPr>
          <p:cNvPr id="23" name="Image 2" descr="Databa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6507" y="2057400"/>
            <a:ext cx="406400" cy="4064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46507" y="2590800"/>
            <a:ext cx="2965054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classes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8246507" y="2992121"/>
            <a:ext cx="29650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UserDAO</a:t>
            </a:r>
            <a:endParaRPr lang="en-US" sz="1200" dirty="0"/>
          </a:p>
        </p:txBody>
      </p:sp>
      <p:sp>
        <p:nvSpPr>
          <p:cNvPr id="26" name="Text 21"/>
          <p:cNvSpPr/>
          <p:nvPr/>
        </p:nvSpPr>
        <p:spPr>
          <a:xfrm>
            <a:off x="8246507" y="3230879"/>
            <a:ext cx="296505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Login, register and update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8246507" y="3589021"/>
            <a:ext cx="29650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CourseDAO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8246507" y="3827779"/>
            <a:ext cx="296505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Create, list and enroll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8246507" y="4185921"/>
            <a:ext cx="29650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SubmissionDAO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8246507" y="4424679"/>
            <a:ext cx="296505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Submit, grade and report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 · UI DESIGN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Screen designs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3549650" cy="3557270"/>
          </a:xfrm>
          <a:prstGeom prst="roundRect">
            <a:avLst>
              <a:gd name="adj" fmla="val 3488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7880" y="1808479"/>
            <a:ext cx="3545840" cy="416560"/>
          </a:xfrm>
          <a:custGeom>
            <a:avLst/>
            <a:gdLst/>
            <a:ahLst/>
            <a:cxnLst/>
            <a:rect l="l" t="t" r="r" b="b"/>
            <a:pathLst>
              <a:path w="3545840" h="416560">
                <a:moveTo>
                  <a:pt x="0" y="121920"/>
                </a:moveTo>
                <a:arcTo hR="121920" wR="121920" stAng="10800000" swAng="5400000"/>
                <a:lnTo>
                  <a:pt x="3423920" y="0"/>
                </a:lnTo>
                <a:arcTo hR="121920" wR="121920" stAng="16200000" swAng="5400000"/>
                <a:lnTo>
                  <a:pt x="354584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0F1B33"/>
          </a:solidFill>
          <a:ln/>
        </p:spPr>
      </p:sp>
      <p:sp>
        <p:nvSpPr>
          <p:cNvPr id="6" name="Shape 4"/>
          <p:cNvSpPr/>
          <p:nvPr/>
        </p:nvSpPr>
        <p:spPr>
          <a:xfrm>
            <a:off x="9702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/>
        </p:spPr>
      </p:sp>
      <p:sp>
        <p:nvSpPr>
          <p:cNvPr id="7" name="Shape 5"/>
          <p:cNvSpPr/>
          <p:nvPr/>
        </p:nvSpPr>
        <p:spPr>
          <a:xfrm>
            <a:off x="11353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DD6C6"/>
          </a:solidFill>
          <a:ln/>
        </p:spPr>
      </p:sp>
      <p:sp>
        <p:nvSpPr>
          <p:cNvPr id="8" name="Shape 6"/>
          <p:cNvSpPr/>
          <p:nvPr/>
        </p:nvSpPr>
        <p:spPr>
          <a:xfrm>
            <a:off x="13004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8A98B8"/>
          </a:solidFill>
          <a:ln/>
        </p:spPr>
      </p:sp>
      <p:sp>
        <p:nvSpPr>
          <p:cNvPr id="9" name="Text 7"/>
          <p:cNvSpPr/>
          <p:nvPr/>
        </p:nvSpPr>
        <p:spPr>
          <a:xfrm>
            <a:off x="1465580" y="1910079"/>
            <a:ext cx="9378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LMS · Login</a:t>
            </a:r>
            <a:endParaRPr lang="en-US" sz="1200" dirty="0"/>
          </a:p>
        </p:txBody>
      </p:sp>
      <p:pic>
        <p:nvPicPr>
          <p:cNvPr id="10" name="Image 0" descr="GraduationCa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22680" y="247904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22680" y="3063242"/>
            <a:ext cx="3024327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Welcome back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129030" y="3516629"/>
            <a:ext cx="2923540" cy="441960"/>
          </a:xfrm>
          <a:prstGeom prst="roundRect">
            <a:avLst>
              <a:gd name="adj" fmla="val 15805"/>
            </a:avLst>
          </a:prstGeom>
          <a:solidFill>
            <a:srgbClr val="F6F4EE"/>
          </a:solidFill>
          <a:ln w="12700">
            <a:solidFill>
              <a:srgbClr val="E2DDCF"/>
            </a:solidFill>
            <a:prstDash val="solid"/>
          </a:ln>
        </p:spPr>
        <p:txBody>
          <a:bodyPr wrap="square" lIns="110352" tIns="84952" rIns="30494" bIns="5955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Email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29030" y="4098292"/>
            <a:ext cx="2923540" cy="441960"/>
          </a:xfrm>
          <a:prstGeom prst="roundRect">
            <a:avLst>
              <a:gd name="adj" fmla="val 15805"/>
            </a:avLst>
          </a:prstGeom>
          <a:solidFill>
            <a:srgbClr val="F6F4EE"/>
          </a:solidFill>
          <a:ln w="12700">
            <a:solidFill>
              <a:srgbClr val="E2DDCF"/>
            </a:solidFill>
            <a:prstDash val="solid"/>
          </a:ln>
        </p:spPr>
        <p:txBody>
          <a:bodyPr wrap="square" lIns="110352" tIns="84952" rIns="30494" bIns="59552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Password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22680" y="4673600"/>
            <a:ext cx="2936240" cy="434340"/>
          </a:xfrm>
          <a:prstGeom prst="roundRect">
            <a:avLst>
              <a:gd name="adj" fmla="val 17544"/>
            </a:avLst>
          </a:prstGeom>
          <a:solidFill>
            <a:srgbClr val="0F1B33"/>
          </a:solidFill>
          <a:ln/>
        </p:spPr>
        <p:txBody>
          <a:bodyPr wrap="square" lIns="38286" tIns="79282" rIns="38286" bIns="53882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6F4E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Sign in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625975" y="1806575"/>
            <a:ext cx="6750050" cy="3557270"/>
          </a:xfrm>
          <a:prstGeom prst="roundRect">
            <a:avLst>
              <a:gd name="adj" fmla="val 3481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27880" y="1808479"/>
            <a:ext cx="6746240" cy="416560"/>
          </a:xfrm>
          <a:custGeom>
            <a:avLst/>
            <a:gdLst/>
            <a:ahLst/>
            <a:cxnLst/>
            <a:rect l="l" t="t" r="r" b="b"/>
            <a:pathLst>
              <a:path w="6746240" h="416560">
                <a:moveTo>
                  <a:pt x="0" y="121920"/>
                </a:moveTo>
                <a:arcTo hR="121920" wR="121920" stAng="10800000" swAng="5400000"/>
                <a:lnTo>
                  <a:pt x="6624320" y="0"/>
                </a:lnTo>
                <a:arcTo hR="121920" wR="121920" stAng="16200000" swAng="5400000"/>
                <a:lnTo>
                  <a:pt x="6746240" y="416560"/>
                </a:lnTo>
                <a:lnTo>
                  <a:pt x="0" y="416560"/>
                </a:lnTo>
                <a:close/>
              </a:path>
            </a:pathLst>
          </a:custGeom>
          <a:solidFill>
            <a:srgbClr val="0F1B33"/>
          </a:solidFill>
          <a:ln/>
        </p:spPr>
      </p:sp>
      <p:sp>
        <p:nvSpPr>
          <p:cNvPr id="17" name="Shape 14"/>
          <p:cNvSpPr/>
          <p:nvPr/>
        </p:nvSpPr>
        <p:spPr>
          <a:xfrm>
            <a:off x="47802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/>
        </p:spPr>
      </p:sp>
      <p:sp>
        <p:nvSpPr>
          <p:cNvPr id="18" name="Shape 15"/>
          <p:cNvSpPr/>
          <p:nvPr/>
        </p:nvSpPr>
        <p:spPr>
          <a:xfrm>
            <a:off x="49453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3DD6C6"/>
          </a:solidFill>
          <a:ln/>
        </p:spPr>
      </p:sp>
      <p:sp>
        <p:nvSpPr>
          <p:cNvPr id="19" name="Shape 16"/>
          <p:cNvSpPr/>
          <p:nvPr/>
        </p:nvSpPr>
        <p:spPr>
          <a:xfrm>
            <a:off x="5110480" y="1965964"/>
            <a:ext cx="101600" cy="101600"/>
          </a:xfrm>
          <a:prstGeom prst="roundRect">
            <a:avLst>
              <a:gd name="adj" fmla="val 50000"/>
            </a:avLst>
          </a:prstGeom>
          <a:solidFill>
            <a:srgbClr val="8A98B8"/>
          </a:solidFill>
          <a:ln/>
        </p:spPr>
      </p:sp>
      <p:sp>
        <p:nvSpPr>
          <p:cNvPr id="20" name="Text 17"/>
          <p:cNvSpPr/>
          <p:nvPr/>
        </p:nvSpPr>
        <p:spPr>
          <a:xfrm>
            <a:off x="5275580" y="1910079"/>
            <a:ext cx="21285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LMS · Student dashboard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27880" y="2225042"/>
            <a:ext cx="1524000" cy="3136900"/>
          </a:xfrm>
          <a:custGeom>
            <a:avLst/>
            <a:gdLst/>
            <a:ahLst/>
            <a:cxnLst/>
            <a:rect l="l" t="t" r="r" b="b"/>
            <a:pathLst>
              <a:path w="1524000" h="3136900">
                <a:moveTo>
                  <a:pt x="121920" y="3136900"/>
                </a:moveTo>
                <a:arcTo hR="121920" wR="121920" stAng="5400000" swAng="5400000"/>
                <a:lnTo>
                  <a:pt x="0" y="0"/>
                </a:lnTo>
                <a:lnTo>
                  <a:pt x="1524000" y="0"/>
                </a:lnTo>
                <a:lnTo>
                  <a:pt x="1524000" y="3136900"/>
                </a:lnTo>
                <a:close/>
              </a:path>
            </a:pathLst>
          </a:custGeom>
          <a:solidFill>
            <a:srgbClr val="17284A"/>
          </a:solidFill>
          <a:ln/>
        </p:spPr>
      </p:sp>
      <p:sp>
        <p:nvSpPr>
          <p:cNvPr id="22" name="Text 19"/>
          <p:cNvSpPr/>
          <p:nvPr/>
        </p:nvSpPr>
        <p:spPr>
          <a:xfrm>
            <a:off x="4780280" y="2402842"/>
            <a:ext cx="1219200" cy="358140"/>
          </a:xfrm>
          <a:prstGeom prst="roundRect">
            <a:avLst>
              <a:gd name="adj" fmla="val 17730"/>
            </a:avLst>
          </a:prstGeom>
          <a:solidFill>
            <a:srgbClr val="FFB547"/>
          </a:solidFill>
          <a:ln/>
        </p:spPr>
        <p:txBody>
          <a:bodyPr wrap="square" lIns="83001" tIns="44901" rIns="32201" bIns="19501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881880" y="2926079"/>
            <a:ext cx="1066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 courses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4881880" y="3385821"/>
            <a:ext cx="1066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Assignments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81880" y="3845564"/>
            <a:ext cx="1066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329680" y="2402842"/>
            <a:ext cx="1554480" cy="723900"/>
          </a:xfrm>
          <a:prstGeom prst="roundRect">
            <a:avLst>
              <a:gd name="adj" fmla="val 12281"/>
            </a:avLst>
          </a:prstGeom>
          <a:solidFill>
            <a:srgbClr val="F6F4EE"/>
          </a:solidFill>
          <a:ln/>
        </p:spPr>
      </p:sp>
      <p:sp>
        <p:nvSpPr>
          <p:cNvPr id="27" name="Text 24"/>
          <p:cNvSpPr/>
          <p:nvPr/>
        </p:nvSpPr>
        <p:spPr>
          <a:xfrm>
            <a:off x="6456680" y="2504442"/>
            <a:ext cx="135128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6456680" y="2811779"/>
            <a:ext cx="1351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Courses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985760" y="2402842"/>
            <a:ext cx="1554480" cy="723900"/>
          </a:xfrm>
          <a:prstGeom prst="roundRect">
            <a:avLst>
              <a:gd name="adj" fmla="val 12281"/>
            </a:avLst>
          </a:prstGeom>
          <a:solidFill>
            <a:srgbClr val="F6F4EE"/>
          </a:solidFill>
          <a:ln/>
        </p:spPr>
      </p:sp>
      <p:sp>
        <p:nvSpPr>
          <p:cNvPr id="30" name="Text 27"/>
          <p:cNvSpPr/>
          <p:nvPr/>
        </p:nvSpPr>
        <p:spPr>
          <a:xfrm>
            <a:off x="8112760" y="2504442"/>
            <a:ext cx="135128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68%</a:t>
            </a:r>
            <a:endParaRPr lang="en-US" sz="2200" dirty="0"/>
          </a:p>
        </p:txBody>
      </p:sp>
      <p:sp>
        <p:nvSpPr>
          <p:cNvPr id="31" name="Text 28"/>
          <p:cNvSpPr/>
          <p:nvPr/>
        </p:nvSpPr>
        <p:spPr>
          <a:xfrm>
            <a:off x="8112760" y="2811779"/>
            <a:ext cx="1351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9641840" y="2402842"/>
            <a:ext cx="1554480" cy="723900"/>
          </a:xfrm>
          <a:prstGeom prst="roundRect">
            <a:avLst>
              <a:gd name="adj" fmla="val 12281"/>
            </a:avLst>
          </a:prstGeom>
          <a:solidFill>
            <a:srgbClr val="F6F4EE"/>
          </a:solidFill>
          <a:ln/>
        </p:spPr>
      </p:sp>
      <p:sp>
        <p:nvSpPr>
          <p:cNvPr id="33" name="Text 30"/>
          <p:cNvSpPr/>
          <p:nvPr/>
        </p:nvSpPr>
        <p:spPr>
          <a:xfrm>
            <a:off x="9768840" y="2504442"/>
            <a:ext cx="1351280" cy="332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20"/>
              </a:lnSpc>
              <a:buNone/>
            </a:pPr>
            <a:r>
              <a:rPr lang="en-US" sz="22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9768840" y="2811779"/>
            <a:ext cx="1351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Due soon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29680" y="3253742"/>
            <a:ext cx="50126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 courses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329680" y="3629664"/>
            <a:ext cx="167754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Java Programming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10799223" y="3629664"/>
            <a:ext cx="39709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72%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329680" y="3911600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E2DDCF"/>
          </a:solidFill>
          <a:ln/>
        </p:spPr>
      </p:sp>
      <p:sp>
        <p:nvSpPr>
          <p:cNvPr id="39" name="Shape 36"/>
          <p:cNvSpPr/>
          <p:nvPr/>
        </p:nvSpPr>
        <p:spPr>
          <a:xfrm>
            <a:off x="6329680" y="3911600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0B7A71"/>
          </a:solidFill>
          <a:ln/>
        </p:spPr>
      </p:sp>
      <p:sp>
        <p:nvSpPr>
          <p:cNvPr id="40" name="Text 37"/>
          <p:cNvSpPr/>
          <p:nvPr/>
        </p:nvSpPr>
        <p:spPr>
          <a:xfrm>
            <a:off x="6329680" y="4127500"/>
            <a:ext cx="170107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Systems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10765790" y="4127500"/>
            <a:ext cx="43053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45%</a:t>
            </a:r>
            <a:endParaRPr lang="en-US" sz="1300" dirty="0"/>
          </a:p>
        </p:txBody>
      </p:sp>
      <p:sp>
        <p:nvSpPr>
          <p:cNvPr id="42" name="Shape 39"/>
          <p:cNvSpPr/>
          <p:nvPr/>
        </p:nvSpPr>
        <p:spPr>
          <a:xfrm>
            <a:off x="6329680" y="4409442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E2DDCF"/>
          </a:solidFill>
          <a:ln/>
        </p:spPr>
      </p:sp>
      <p:sp>
        <p:nvSpPr>
          <p:cNvPr id="43" name="Shape 40"/>
          <p:cNvSpPr/>
          <p:nvPr/>
        </p:nvSpPr>
        <p:spPr>
          <a:xfrm>
            <a:off x="6329680" y="4409442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0B7A71"/>
          </a:solidFill>
          <a:ln/>
        </p:spPr>
      </p:sp>
      <p:sp>
        <p:nvSpPr>
          <p:cNvPr id="44" name="Text 41"/>
          <p:cNvSpPr/>
          <p:nvPr/>
        </p:nvSpPr>
        <p:spPr>
          <a:xfrm>
            <a:off x="6329680" y="4625342"/>
            <a:ext cx="14421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Structures</a:t>
            </a:r>
            <a:endParaRPr lang="en-US" sz="1300" dirty="0"/>
          </a:p>
        </p:txBody>
      </p:sp>
      <p:sp>
        <p:nvSpPr>
          <p:cNvPr id="45" name="Text 42"/>
          <p:cNvSpPr/>
          <p:nvPr/>
        </p:nvSpPr>
        <p:spPr>
          <a:xfrm>
            <a:off x="10752455" y="4625342"/>
            <a:ext cx="44386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90%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6329680" y="4907279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E2DDCF"/>
          </a:solidFill>
          <a:ln/>
        </p:spPr>
      </p:sp>
      <p:sp>
        <p:nvSpPr>
          <p:cNvPr id="47" name="Shape 44"/>
          <p:cNvSpPr/>
          <p:nvPr/>
        </p:nvSpPr>
        <p:spPr>
          <a:xfrm>
            <a:off x="6329680" y="4907279"/>
            <a:ext cx="4866640" cy="88900"/>
          </a:xfrm>
          <a:prstGeom prst="roundRect">
            <a:avLst>
              <a:gd name="adj" fmla="val 50000"/>
            </a:avLst>
          </a:prstGeom>
          <a:solidFill>
            <a:srgbClr val="0B7A71"/>
          </a:solidFill>
          <a:ln/>
        </p:spPr>
      </p:sp>
      <p:sp>
        <p:nvSpPr>
          <p:cNvPr id="48" name="Text 4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13 · UI/UX PRINCIPLES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Aesthetics and responsiveness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400"/>
            <a:ext cx="5207000" cy="919480"/>
          </a:xfrm>
          <a:prstGeom prst="roundRect">
            <a:avLst>
              <a:gd name="adj" fmla="val 13812"/>
            </a:avLst>
          </a:prstGeom>
          <a:solidFill>
            <a:srgbClr val="17284A"/>
          </a:solidFill>
          <a:ln/>
        </p:spPr>
      </p:sp>
      <p:pic>
        <p:nvPicPr>
          <p:cNvPr id="5" name="Image 0" descr="Lightbulb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2085342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9400" y="2006600"/>
            <a:ext cx="43952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Consistent look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49400" y="2288542"/>
            <a:ext cx="43952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One palette and type scale across every screen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803400"/>
            <a:ext cx="5207000" cy="919480"/>
          </a:xfrm>
          <a:prstGeom prst="roundRect">
            <a:avLst>
              <a:gd name="adj" fmla="val 13812"/>
            </a:avLst>
          </a:prstGeom>
          <a:solidFill>
            <a:srgbClr val="17284A"/>
          </a:solidFill>
          <a:ln/>
        </p:spPr>
      </p:sp>
      <p:pic>
        <p:nvPicPr>
          <p:cNvPr id="9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75400" y="2085342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08800" y="2006600"/>
            <a:ext cx="43952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Responsive layouts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6908800" y="2288542"/>
            <a:ext cx="439521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CSS flexbox and media queries adapt to any screen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2800" y="2875279"/>
            <a:ext cx="5207000" cy="919480"/>
          </a:xfrm>
          <a:prstGeom prst="roundRect">
            <a:avLst>
              <a:gd name="adj" fmla="val 13812"/>
            </a:avLst>
          </a:prstGeom>
          <a:solidFill>
            <a:srgbClr val="17284A"/>
          </a:solidFill>
          <a:ln/>
        </p:spPr>
      </p:sp>
      <p:pic>
        <p:nvPicPr>
          <p:cNvPr id="13" name="Image 2" descr="Verified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16000" y="3157221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49400" y="3078479"/>
            <a:ext cx="43952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Accessible by default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49400" y="3360421"/>
            <a:ext cx="4470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contrast, readable fonts and keyboard navigation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72200" y="2875279"/>
            <a:ext cx="5207000" cy="919480"/>
          </a:xfrm>
          <a:prstGeom prst="roundRect">
            <a:avLst>
              <a:gd name="adj" fmla="val 13812"/>
            </a:avLst>
          </a:prstGeom>
          <a:solidFill>
            <a:srgbClr val="17284A"/>
          </a:solidFill>
          <a:ln/>
        </p:spPr>
      </p:sp>
      <p:pic>
        <p:nvPicPr>
          <p:cNvPr id="17" name="Image 3" descr="Cha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375400" y="3157221"/>
            <a:ext cx="355600" cy="355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08800" y="3078479"/>
            <a:ext cx="4395216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Clear feedback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908800" y="3360421"/>
            <a:ext cx="44704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Validation messages and loading states for each action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19150" y="4055114"/>
            <a:ext cx="2019300" cy="393700"/>
          </a:xfrm>
          <a:prstGeom prst="roundRect">
            <a:avLst>
              <a:gd name="adj" fmla="val 17742"/>
            </a:avLst>
          </a:prstGeom>
          <a:solidFill>
            <a:srgbClr val="0F1B33"/>
          </a:solidFill>
          <a:ln w="12700">
            <a:solidFill>
              <a:srgbClr val="3A4E78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812800" y="4518664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Navy · #0F1B33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2952750" y="4055114"/>
            <a:ext cx="2019300" cy="393700"/>
          </a:xfrm>
          <a:prstGeom prst="roundRect">
            <a:avLst>
              <a:gd name="adj" fmla="val 17742"/>
            </a:avLst>
          </a:prstGeom>
          <a:solidFill>
            <a:srgbClr val="17284A"/>
          </a:solidFill>
          <a:ln w="12700">
            <a:solidFill>
              <a:srgbClr val="3A4E78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946400" y="4518664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Slate · #17284A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080000" y="4048764"/>
            <a:ext cx="2032000" cy="406400"/>
          </a:xfrm>
          <a:prstGeom prst="roundRect">
            <a:avLst>
              <a:gd name="adj" fmla="val 18750"/>
            </a:avLst>
          </a:prstGeom>
          <a:solidFill>
            <a:srgbClr val="FFB547"/>
          </a:solidFill>
          <a:ln/>
        </p:spPr>
      </p:sp>
      <p:sp>
        <p:nvSpPr>
          <p:cNvPr id="25" name="Text 19"/>
          <p:cNvSpPr/>
          <p:nvPr/>
        </p:nvSpPr>
        <p:spPr>
          <a:xfrm>
            <a:off x="5080000" y="4518664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Amber · #FFB547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213600" y="4048764"/>
            <a:ext cx="2032000" cy="406400"/>
          </a:xfrm>
          <a:prstGeom prst="roundRect">
            <a:avLst>
              <a:gd name="adj" fmla="val 18750"/>
            </a:avLst>
          </a:prstGeom>
          <a:solidFill>
            <a:srgbClr val="3DD6C6"/>
          </a:solidFill>
          <a:ln/>
        </p:spPr>
      </p:sp>
      <p:sp>
        <p:nvSpPr>
          <p:cNvPr id="27" name="Text 21"/>
          <p:cNvSpPr/>
          <p:nvPr/>
        </p:nvSpPr>
        <p:spPr>
          <a:xfrm>
            <a:off x="7213600" y="4518664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Teal · #3DD6C6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347200" y="4048764"/>
            <a:ext cx="2032000" cy="406400"/>
          </a:xfrm>
          <a:prstGeom prst="roundRect">
            <a:avLst>
              <a:gd name="adj" fmla="val 18750"/>
            </a:avLst>
          </a:prstGeom>
          <a:solidFill>
            <a:srgbClr val="F6F4EE"/>
          </a:solidFill>
          <a:ln/>
        </p:spPr>
      </p:sp>
      <p:sp>
        <p:nvSpPr>
          <p:cNvPr id="29" name="Text 23"/>
          <p:cNvSpPr/>
          <p:nvPr/>
        </p:nvSpPr>
        <p:spPr>
          <a:xfrm>
            <a:off x="9347200" y="4518664"/>
            <a:ext cx="20929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Cream · #F6F4EE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· MARKING RUBRIC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Java Web Based Projects Marking Rubric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6240" cy="3632200"/>
        </p:xfrm>
        <a:graphic>
          <a:graphicData uri="http://schemas.openxmlformats.org/drawingml/2006/table">
            <a:tbl>
              <a:tblPr/>
              <a:tblGrid>
                <a:gridCol w="3589122"/>
                <a:gridCol w="5700370"/>
                <a:gridCol w="1266749"/>
              </a:tblGrid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Deliverable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Description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Score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Problem Understanding &amp; Solution Design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Requirement analysis, design diagrams, logical planning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Core Java Concepts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OOP, collections, exception handling and threads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Database Integration (JDBC)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Schema design, CRUD and transaction handling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Servlets &amp; Web Integration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Request/response and session management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1 (Pre-Midterm Submission)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1 score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33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Code Quality &amp; Testing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Readability, modularity, debugging, exception handling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Teamwork &amp; Collaboration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Coding standards, readability, output correctness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Innovation / Extra Effort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Extra features beyond minimum requirements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2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2 (Final Submission)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2 score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17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D6C6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Total score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4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Review 1 + Review 2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1B33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50</a:t>
                      </a:r>
                      <a:endParaRPr lang="en-US" sz="12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4AB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92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54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 · RUBRIC MAPPING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64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Review 1 areas in our project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813560"/>
          <a:ext cx="10556240" cy="1784350"/>
        </p:xfrm>
        <a:graphic>
          <a:graphicData uri="http://schemas.openxmlformats.org/drawingml/2006/table">
            <a:tbl>
              <a:tblPr/>
              <a:tblGrid>
                <a:gridCol w="4222496"/>
                <a:gridCol w="1055624"/>
                <a:gridCol w="5278120"/>
              </a:tblGrid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Rubric area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Marks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6F4E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In our project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3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Problem understanding and solution design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Requirements, ER and architecture diagrams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19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Core Java concepts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10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OOP, collections, exceptions, threads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Database integration (JDBC)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8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Schema, DAO classes with CRUD, transactions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56870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Servlets and web integration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7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44506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Servlets, JSP views, request/response, sessions</a:t>
                      </a:r>
                      <a:endParaRPr lang="en-US" sz="13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A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D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3851908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 total: 33 marks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· ROADMAP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Progress and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360" y="0"/>
                </a:lnTo>
                <a:arcTo hR="127000" wR="127000" stAng="16200000" swAng="5400000"/>
                <a:lnTo>
                  <a:pt x="1991360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092958"/>
            <a:ext cx="867331" cy="31496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16000" y="4612642"/>
            <a:ext cx="1635760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Planning and requirements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5176527"/>
            <a:ext cx="163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Scope, roles and modules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5656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  <a:ln/>
        </p:spPr>
      </p:sp>
      <p:sp>
        <p:nvSpPr>
          <p:cNvPr id="10" name="Shape 8"/>
          <p:cNvSpPr/>
          <p:nvPr/>
        </p:nvSpPr>
        <p:spPr>
          <a:xfrm>
            <a:off x="295656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360" y="0"/>
                </a:lnTo>
                <a:arcTo hR="127000" wR="127000" stAng="16200000" swAng="5400000"/>
                <a:lnTo>
                  <a:pt x="1991360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11" name="Text 9"/>
          <p:cNvSpPr/>
          <p:nvPr/>
        </p:nvSpPr>
        <p:spPr>
          <a:xfrm>
            <a:off x="3159760" y="2092958"/>
            <a:ext cx="867331" cy="31496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59760" y="4612642"/>
            <a:ext cx="1635760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Database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59760" y="5176527"/>
            <a:ext cx="163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ER model, schema and SQL scripts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0032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  <a:ln/>
        </p:spPr>
      </p:sp>
      <p:sp>
        <p:nvSpPr>
          <p:cNvPr id="15" name="Shape 13"/>
          <p:cNvSpPr/>
          <p:nvPr/>
        </p:nvSpPr>
        <p:spPr>
          <a:xfrm>
            <a:off x="510032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360" y="0"/>
                </a:lnTo>
                <a:arcTo hR="127000" wR="127000" stAng="16200000" swAng="5400000"/>
                <a:lnTo>
                  <a:pt x="1991360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0" y="2092958"/>
            <a:ext cx="867331" cy="31496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03520" y="4612642"/>
            <a:ext cx="1635760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JDBC connectivity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303520" y="5176527"/>
            <a:ext cx="163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DBConnection and DAO classes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4408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4408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360" y="0"/>
                </a:lnTo>
                <a:arcTo hR="127000" wR="127000" stAng="16200000" swAng="5400000"/>
                <a:lnTo>
                  <a:pt x="1991360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FFB547"/>
          </a:solidFill>
          <a:ln/>
        </p:spPr>
      </p:sp>
      <p:sp>
        <p:nvSpPr>
          <p:cNvPr id="21" name="Text 19"/>
          <p:cNvSpPr/>
          <p:nvPr/>
        </p:nvSpPr>
        <p:spPr>
          <a:xfrm>
            <a:off x="7447280" y="2092958"/>
            <a:ext cx="867331" cy="314960"/>
          </a:xfrm>
          <a:prstGeom prst="roundRect">
            <a:avLst>
              <a:gd name="adj" fmla="val 50000"/>
            </a:avLst>
          </a:prstGeom>
          <a:solidFill>
            <a:srgbClr val="FFB54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Review 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47280" y="4856485"/>
            <a:ext cx="16357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UI design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47280" y="5176527"/>
            <a:ext cx="163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Login and dashboard screens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87840" y="1854200"/>
            <a:ext cx="1991360" cy="3987800"/>
          </a:xfrm>
          <a:prstGeom prst="roundRect">
            <a:avLst>
              <a:gd name="adj" fmla="val 6378"/>
            </a:avLst>
          </a:prstGeom>
          <a:solidFill>
            <a:srgbClr val="17284A"/>
          </a:solidFill>
          <a:ln/>
        </p:spPr>
      </p:sp>
      <p:sp>
        <p:nvSpPr>
          <p:cNvPr id="25" name="Shape 23"/>
          <p:cNvSpPr/>
          <p:nvPr/>
        </p:nvSpPr>
        <p:spPr>
          <a:xfrm>
            <a:off x="9387840" y="1854200"/>
            <a:ext cx="1991360" cy="3987800"/>
          </a:xfrm>
          <a:custGeom>
            <a:avLst/>
            <a:gdLst/>
            <a:ahLst/>
            <a:cxnLst/>
            <a:rect l="l" t="t" r="r" b="b"/>
            <a:pathLst>
              <a:path w="1991360" h="3987800">
                <a:moveTo>
                  <a:pt x="0" y="127000"/>
                </a:moveTo>
                <a:lnTo>
                  <a:pt x="0" y="127000"/>
                </a:lnTo>
                <a:arcTo hR="127000" wR="127000" stAng="10800000" swAng="5400000"/>
                <a:lnTo>
                  <a:pt x="1864360" y="0"/>
                </a:lnTo>
                <a:arcTo hR="127000" wR="127000" stAng="16200000" swAng="5400000"/>
                <a:lnTo>
                  <a:pt x="1991360" y="127000"/>
                </a:lnTo>
                <a:arcTo hR="88900" wR="127000" stAng="0" swAng="-5400000"/>
                <a:lnTo>
                  <a:pt x="127000" y="38100"/>
                </a:lnTo>
                <a:arcTo hR="88900" wR="127000" stAng="16200000" swAng="-5400000"/>
                <a:close/>
              </a:path>
            </a:pathLst>
          </a:custGeom>
          <a:solidFill>
            <a:srgbClr val="3DD6C6"/>
          </a:solidFill>
          <a:ln/>
        </p:spPr>
      </p:sp>
      <p:sp>
        <p:nvSpPr>
          <p:cNvPr id="26" name="Text 24"/>
          <p:cNvSpPr/>
          <p:nvPr/>
        </p:nvSpPr>
        <p:spPr>
          <a:xfrm>
            <a:off x="9591040" y="2092958"/>
            <a:ext cx="604679" cy="314960"/>
          </a:xfrm>
          <a:prstGeom prst="roundRect">
            <a:avLst>
              <a:gd name="adj" fmla="val 50000"/>
            </a:avLst>
          </a:prstGeom>
          <a:solidFill>
            <a:srgbClr val="3DD6C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F1B3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591040" y="4612642"/>
            <a:ext cx="1635760" cy="51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modules and testing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591040" y="5176527"/>
            <a:ext cx="16357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Courses, quizzes and assignments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0B7A71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17 · GITHUB REPOSITORY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58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Repository and code 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5975" y="1806575"/>
            <a:ext cx="5129530" cy="3041650"/>
          </a:xfrm>
          <a:prstGeom prst="roundRect">
            <a:avLst>
              <a:gd name="adj" fmla="val 4906"/>
            </a:avLst>
          </a:prstGeom>
          <a:solidFill>
            <a:srgbClr val="FFFDF8"/>
          </a:solidFill>
          <a:ln w="6350">
            <a:solidFill>
              <a:srgbClr val="E2DD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062485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0F1B3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README.md covers</a:t>
            </a:r>
            <a:endParaRPr lang="en-US" sz="1800" dirty="0"/>
          </a:p>
        </p:txBody>
      </p:sp>
      <p:pic>
        <p:nvPicPr>
          <p:cNvPr id="6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1880" y="247395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27480" y="2463800"/>
            <a:ext cx="29269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Project overview and features</a:t>
            </a:r>
            <a:endParaRPr lang="en-US" sz="1400" dirty="0"/>
          </a:p>
        </p:txBody>
      </p:sp>
      <p:pic>
        <p:nvPicPr>
          <p:cNvPr id="8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71880" y="2849885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27480" y="2839727"/>
            <a:ext cx="2864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 stack and requirements</a:t>
            </a:r>
            <a:endParaRPr lang="en-US" sz="1400" dirty="0"/>
          </a:p>
        </p:txBody>
      </p:sp>
      <p:pic>
        <p:nvPicPr>
          <p:cNvPr id="10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71880" y="3225800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27480" y="3215642"/>
            <a:ext cx="32021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Database setup with schema.sql</a:t>
            </a:r>
            <a:endParaRPr lang="en-US" sz="1400" dirty="0"/>
          </a:p>
        </p:txBody>
      </p:sp>
      <p:pic>
        <p:nvPicPr>
          <p:cNvPr id="12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71880" y="3601727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27480" y="3591558"/>
            <a:ext cx="204911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to build and run</a:t>
            </a:r>
            <a:endParaRPr lang="en-US" sz="1400" dirty="0"/>
          </a:p>
        </p:txBody>
      </p:sp>
      <p:pic>
        <p:nvPicPr>
          <p:cNvPr id="14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71880" y="3977642"/>
            <a:ext cx="228600" cy="2286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27480" y="3967485"/>
            <a:ext cx="2114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Screenshots of the UI</a:t>
            </a:r>
            <a:endParaRPr lang="en-US" sz="1400" dirty="0"/>
          </a:p>
        </p:txBody>
      </p:sp>
      <p:pic>
        <p:nvPicPr>
          <p:cNvPr id="16" name="Image 5" descr="CheckCircle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071880" y="4353558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27480" y="4343400"/>
            <a:ext cx="24899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450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Team members and roles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6253480" y="1803400"/>
            <a:ext cx="5125720" cy="3048000"/>
          </a:xfrm>
          <a:prstGeom prst="roundRect">
            <a:avLst>
              <a:gd name="adj" fmla="val 5000"/>
            </a:avLst>
          </a:prstGeom>
          <a:solidFill>
            <a:srgbClr val="0F1B33"/>
          </a:solidFill>
          <a:ln/>
        </p:spPr>
      </p:sp>
      <p:sp>
        <p:nvSpPr>
          <p:cNvPr id="19" name="Text 11"/>
          <p:cNvSpPr/>
          <p:nvPr/>
        </p:nvSpPr>
        <p:spPr>
          <a:xfrm>
            <a:off x="6507480" y="2057400"/>
            <a:ext cx="475625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REPOSITORY LINK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507480" y="2423158"/>
            <a:ext cx="4756252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D6C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github.com/oo7starkpro/guvi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507480" y="2806700"/>
            <a:ext cx="475625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Code quality checklist</a:t>
            </a:r>
            <a:endParaRPr lang="en-US" sz="1800" dirty="0"/>
          </a:p>
        </p:txBody>
      </p:sp>
      <p:sp>
        <p:nvSpPr>
          <p:cNvPr id="22" name="Text 14"/>
          <p:cNvSpPr/>
          <p:nvPr/>
        </p:nvSpPr>
        <p:spPr>
          <a:xfrm>
            <a:off x="6592062" y="3233427"/>
            <a:ext cx="4664050" cy="1163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Comments and Javadoc on public methods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Modular packages and small classes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Clear names, no hard-coded passwords</a:t>
            </a:r>
            <a:endParaRPr lang="en-US" sz="1400" dirty="0"/>
          </a:p>
          <a:p>
            <a:pPr algn="l" marL="169418" indent="-169418">
              <a:lnSpc>
                <a:spcPts val="2240"/>
              </a:lnSpc>
              <a:buSzPct val="100000"/>
              <a:buChar char="•"/>
            </a:pPr>
            <a:r>
              <a:rPr lang="en-US" sz="14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Public repository that reviewers can open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5B65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02525" y="1533525"/>
            <a:ext cx="3536950" cy="3536950"/>
          </a:xfrm>
          <a:prstGeom prst="roundRect">
            <a:avLst>
              <a:gd name="adj" fmla="val 45691"/>
            </a:avLst>
          </a:prstGeom>
          <a:noFill/>
          <a:ln w="19050">
            <a:solidFill>
              <a:srgbClr val="3DD6C6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37500" y="1968500"/>
            <a:ext cx="2667000" cy="26670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FFB547"/>
              </a:gs>
              <a:gs pos="100000">
                <a:srgbClr val="3DD6C6"/>
              </a:gs>
            </a:gsLst>
            <a:lin ang="2700000" scaled="0"/>
          </a:gradFill>
          <a:ln/>
        </p:spPr>
      </p:sp>
      <p:pic>
        <p:nvPicPr>
          <p:cNvPr id="4" name="Image 0" descr="Cha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699500" y="2730500"/>
            <a:ext cx="1143000" cy="1143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1902458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B547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</a:t>
            </a:r>
            <a:endParaRPr lang="en-US" sz="12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12800" y="2319027"/>
            <a:ext cx="588645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880"/>
              </a:lnSpc>
              <a:buNone/>
            </a:pPr>
            <a:r>
              <a:rPr lang="en-US" sz="5600" b="1" i="0" dirty="0">
                <a:solidFill>
                  <a:srgbClr val="F6F4E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12800" y="3268985"/>
            <a:ext cx="562483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5D0E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Questions and feedback are welcome.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3756658"/>
            <a:ext cx="5624830" cy="102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[Shaurya Singh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Ashish Mishra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Rakshit Tyagi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 Link - https://github.com/oo7starkpro/guvi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382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8B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Online Learning Management System ·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nline Learning Management System">
  <a:themeElements>
    <a:clrScheme name="Online Learning Management System">
      <a:dk1>
        <a:srgbClr val="0F1B33"/>
      </a:dk1>
      <a:lt1>
        <a:srgbClr val="F6F4EE"/>
      </a:lt1>
      <a:dk2>
        <a:srgbClr val="263146"/>
      </a:dk2>
      <a:lt2>
        <a:srgbClr val="BCBEBF"/>
      </a:lt2>
      <a:accent1>
        <a:srgbClr val="44506B"/>
      </a:accent1>
      <a:accent2>
        <a:srgbClr val="FFB547"/>
      </a:accent2>
      <a:accent3>
        <a:srgbClr val="3DD6C6"/>
      </a:accent3>
      <a:accent4>
        <a:srgbClr val="0B7A71"/>
      </a:accent4>
      <a:accent5>
        <a:srgbClr val="8A98B8"/>
      </a:accent5>
      <a:accent6>
        <a:srgbClr val="4A3600"/>
      </a:accent6>
      <a:hlink>
        <a:srgbClr val="0563C1"/>
      </a:hlink>
      <a:folHlink>
        <a:srgbClr val="954F72"/>
      </a:folHlink>
    </a:clrScheme>
    <a:fontScheme name="Online Learning Management Syste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Learning Management System</dc:title>
  <dc:subject/>
  <dc:creator/>
  <cp:lastModifiedBy/>
  <cp:revision>1</cp:revision>
  <dcterms:created xsi:type="dcterms:W3CDTF">2026-10-10T04:45:12Z</dcterms:created>
  <dcterms:modified xsi:type="dcterms:W3CDTF">2026-10-10T04:45:12Z</dcterms:modified>
</cp:coreProperties>
</file>